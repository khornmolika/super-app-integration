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8916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81BF6-90C8-729E-CDC4-F2D049266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7EB186-94DB-4A75-6BE4-492687C852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481E51-0671-E0C8-F86A-BD844AB3FA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33D3E-3658-D9DC-AC5C-9C1F71C2D1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183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31520"/>
            <a:ext cx="10362895" cy="5394960"/>
          </a:xfrm>
          <a:prstGeom prst="roundRect">
            <a:avLst/>
          </a:prstGeom>
          <a:solidFill>
            <a:srgbClr val="0A1C0E"/>
          </a:solidFill>
          <a:ln w="19050">
            <a:solidFill>
              <a:srgbClr val="2951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D:\Projects\fintect\superapp-poc\docs\assets\fs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3870" y="1188720"/>
            <a:ext cx="1463040" cy="14630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266590" y="2880360"/>
            <a:ext cx="3657600" cy="384048"/>
          </a:xfrm>
          <a:prstGeom prst="roundRect">
            <a:avLst/>
          </a:prstGeom>
          <a:solidFill>
            <a:srgbClr val="3D2800"/>
          </a:solidFill>
          <a:ln w="12700">
            <a:solidFill>
              <a:srgbClr val="905A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266590" y="28803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D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PUBLIC SERVICE PLATFORM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371600" y="3429000"/>
            <a:ext cx="94484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App &amp; Mini App Platform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1828800" y="4251960"/>
            <a:ext cx="85340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D1DC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unified, enterprise-grade mobile container and partner integration gateway powering secure digital public services.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371600" y="5257800"/>
            <a:ext cx="94484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E5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Non-Bank Financial Services Authority (FSA)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rojects\fintect\superapp-poc\docs\assets\fs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11480"/>
            <a:ext cx="438912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61872" y="4389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D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FINTECH CENTER  •  </a:t>
            </a:r>
            <a:r>
              <a:rPr lang="en-US" sz="950" b="1" dirty="0">
                <a:solidFill>
                  <a:srgbClr val="D4E5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NON-BANK FINANCIAL SERVICES AUTHORITY (FSA)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31520" y="10515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D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3258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 of Contents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31520" y="18470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EBB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Comprehensive overview of architecture, security checkpoints, and operational milestones.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31520" y="2176272"/>
            <a:ext cx="10728655" cy="18288"/>
          </a:xfrm>
          <a:prstGeom prst="rect">
            <a:avLst/>
          </a:prstGeom>
          <a:solidFill>
            <a:srgbClr val="1A3F22"/>
          </a:solidFill>
          <a:ln w="12700">
            <a:solidFill>
              <a:srgbClr val="1A3F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31520" y="2377440"/>
            <a:ext cx="5285232" cy="896112"/>
          </a:xfrm>
          <a:prstGeom prst="roundRect">
            <a:avLst/>
          </a:prstGeom>
          <a:solidFill>
            <a:srgbClr val="0B2111"/>
          </a:solidFill>
          <a:ln w="15240">
            <a:solidFill>
              <a:srgbClr val="396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96112" y="2578608"/>
            <a:ext cx="594360" cy="493776"/>
          </a:xfrm>
          <a:prstGeom prst="roundRect">
            <a:avLst/>
          </a:prstGeom>
          <a:solidFill>
            <a:srgbClr val="3D2800"/>
          </a:solidFill>
          <a:ln w="12700">
            <a:solidFill>
              <a:srgbClr val="905A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96112" y="2578608"/>
            <a:ext cx="594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D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627632" y="2505456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Vision
</a:t>
            </a:r>
            <a:r>
              <a:rPr lang="en-US" sz="1050" dirty="0">
                <a:solidFill>
                  <a:srgbClr val="9EBB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Challenge of Fragmentation vs. Unified Super App Ecosystem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31520" y="3401568"/>
            <a:ext cx="5285232" cy="896112"/>
          </a:xfrm>
          <a:prstGeom prst="roundRect">
            <a:avLst/>
          </a:prstGeom>
          <a:solidFill>
            <a:srgbClr val="0B2111"/>
          </a:solidFill>
          <a:ln w="15240">
            <a:solidFill>
              <a:srgbClr val="396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96112" y="3602736"/>
            <a:ext cx="594360" cy="493776"/>
          </a:xfrm>
          <a:prstGeom prst="roundRect">
            <a:avLst/>
          </a:prstGeom>
          <a:solidFill>
            <a:srgbClr val="3D2800"/>
          </a:solidFill>
          <a:ln w="12700">
            <a:solidFill>
              <a:srgbClr val="905A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96112" y="3602736"/>
            <a:ext cx="594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D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627632" y="3529584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Flexible Integration Tiers
</a:t>
            </a:r>
            <a:r>
              <a:rPr lang="en-US" sz="1050" dirty="0">
                <a:solidFill>
                  <a:srgbClr val="9EBB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WebView, Flutter Package, Native SDK, Deep Link Schemes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31520" y="4425696"/>
            <a:ext cx="5285232" cy="896112"/>
          </a:xfrm>
          <a:prstGeom prst="roundRect">
            <a:avLst/>
          </a:prstGeom>
          <a:solidFill>
            <a:srgbClr val="0B2111"/>
          </a:solidFill>
          <a:ln w="15240">
            <a:solidFill>
              <a:srgbClr val="396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896112" y="4626864"/>
            <a:ext cx="594360" cy="493776"/>
          </a:xfrm>
          <a:prstGeom prst="roundRect">
            <a:avLst/>
          </a:prstGeom>
          <a:solidFill>
            <a:srgbClr val="3D2800"/>
          </a:solidFill>
          <a:ln w="12700">
            <a:solidFill>
              <a:srgbClr val="905A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96112" y="4626864"/>
            <a:ext cx="594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D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627632" y="4553712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Partner Self-Service Portal
</a:t>
            </a:r>
            <a:r>
              <a:rPr lang="en-US" sz="1050" dirty="0">
                <a:solidFill>
                  <a:srgbClr val="9EBB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Backoffice Onboarding Wizard &amp; Real-time Probes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31520" y="5449824"/>
            <a:ext cx="5285232" cy="896112"/>
          </a:xfrm>
          <a:prstGeom prst="roundRect">
            <a:avLst/>
          </a:prstGeom>
          <a:solidFill>
            <a:srgbClr val="0B2111"/>
          </a:solidFill>
          <a:ln w="15240">
            <a:solidFill>
              <a:srgbClr val="396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896112" y="5650992"/>
            <a:ext cx="594360" cy="493776"/>
          </a:xfrm>
          <a:prstGeom prst="roundRect">
            <a:avLst/>
          </a:prstGeom>
          <a:solidFill>
            <a:srgbClr val="3D2800"/>
          </a:solidFill>
          <a:ln w="12700">
            <a:solidFill>
              <a:srgbClr val="905A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96112" y="5650992"/>
            <a:ext cx="594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D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627632" y="5577840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Multi-Layered Security Gates
</a:t>
            </a:r>
            <a:r>
              <a:rPr lang="en-US" sz="1050" dirty="0">
                <a:solidFill>
                  <a:srgbClr val="9EBB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Security Scanners Orchestrated by CI/CD Pipeline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172200" y="2377440"/>
            <a:ext cx="5285232" cy="896112"/>
          </a:xfrm>
          <a:prstGeom prst="roundRect">
            <a:avLst/>
          </a:prstGeom>
          <a:solidFill>
            <a:srgbClr val="0B2111"/>
          </a:solidFill>
          <a:ln w="15240">
            <a:solidFill>
              <a:srgbClr val="396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336792" y="2578608"/>
            <a:ext cx="594360" cy="493776"/>
          </a:xfrm>
          <a:prstGeom prst="roundRect">
            <a:avLst/>
          </a:prstGeom>
          <a:solidFill>
            <a:srgbClr val="3D2800"/>
          </a:solidFill>
          <a:ln w="12700">
            <a:solidFill>
              <a:srgbClr val="905A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336792" y="2578608"/>
            <a:ext cx="594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D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068312" y="2505456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Scan Flow
</a:t>
            </a:r>
            <a:r>
              <a:rPr lang="en-US" sz="1050" dirty="0">
                <a:solidFill>
                  <a:srgbClr val="9EBB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Release Builds, Dynamic Codegen &amp; Mainline Git Isolation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172200" y="3401568"/>
            <a:ext cx="5285232" cy="896112"/>
          </a:xfrm>
          <a:prstGeom prst="roundRect">
            <a:avLst/>
          </a:prstGeom>
          <a:solidFill>
            <a:srgbClr val="0B2111"/>
          </a:solidFill>
          <a:ln w="15240">
            <a:solidFill>
              <a:srgbClr val="396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6336792" y="3602736"/>
            <a:ext cx="594360" cy="493776"/>
          </a:xfrm>
          <a:prstGeom prst="roundRect">
            <a:avLst/>
          </a:prstGeom>
          <a:solidFill>
            <a:srgbClr val="3D2800"/>
          </a:solidFill>
          <a:ln w="12700">
            <a:solidFill>
              <a:srgbClr val="905A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336792" y="3602736"/>
            <a:ext cx="594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D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7068312" y="3529584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Dual-Environment Testing Engine
</a:t>
            </a:r>
            <a:r>
              <a:rPr lang="en-US" sz="1050" dirty="0">
                <a:solidFill>
                  <a:srgbClr val="9EBB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Flutter Web Sandbox + Physical Android Device Verification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6172200" y="4425696"/>
            <a:ext cx="5285232" cy="896112"/>
          </a:xfrm>
          <a:prstGeom prst="roundRect">
            <a:avLst/>
          </a:prstGeom>
          <a:solidFill>
            <a:srgbClr val="0B2111"/>
          </a:solidFill>
          <a:ln w="15240">
            <a:solidFill>
              <a:srgbClr val="396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6336792" y="4626864"/>
            <a:ext cx="594360" cy="493776"/>
          </a:xfrm>
          <a:prstGeom prst="roundRect">
            <a:avLst/>
          </a:prstGeom>
          <a:solidFill>
            <a:srgbClr val="3D2800"/>
          </a:solidFill>
          <a:ln w="12700">
            <a:solidFill>
              <a:srgbClr val="905A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6336792" y="4626864"/>
            <a:ext cx="594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D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7068312" y="4553712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Operational Milestones
</a:t>
            </a:r>
            <a:r>
              <a:rPr lang="en-US" sz="1050" dirty="0">
                <a:solidFill>
                  <a:srgbClr val="9EBB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Working Prototypes, Production Readiness &amp; Architecture Integrity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6172200" y="5449824"/>
            <a:ext cx="5285232" cy="896112"/>
          </a:xfrm>
          <a:prstGeom prst="roundRect">
            <a:avLst/>
          </a:prstGeom>
          <a:solidFill>
            <a:srgbClr val="0B2111"/>
          </a:solidFill>
          <a:ln w="15240">
            <a:solidFill>
              <a:srgbClr val="396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6336792" y="5650992"/>
            <a:ext cx="594360" cy="493776"/>
          </a:xfrm>
          <a:prstGeom prst="roundRect">
            <a:avLst/>
          </a:prstGeom>
          <a:solidFill>
            <a:srgbClr val="3D2800"/>
          </a:solidFill>
          <a:ln w="12700">
            <a:solidFill>
              <a:srgbClr val="905A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6336792" y="5650992"/>
            <a:ext cx="594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D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7068312" y="5577840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Integrations
</a:t>
            </a:r>
            <a:r>
              <a:rPr lang="en-US" sz="1050" dirty="0">
                <a:solidFill>
                  <a:srgbClr val="9EBB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CamDigiKey SSO, HR Enterprise Mini App, SA Capability Generator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rojects\fintect\superapp-poc\docs\assets\fs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11480"/>
            <a:ext cx="438912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61872" y="4389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D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FINTECH CENTER  •  </a:t>
            </a:r>
            <a:r>
              <a:rPr lang="en-US" sz="950" b="1" dirty="0">
                <a:solidFill>
                  <a:srgbClr val="D4E5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NON-BANK FINANCIAL SERVICES AUTHORITY (FSA)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31520" y="10515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D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VISION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3258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Challenge &amp; The Solution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31520" y="18470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EBB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Transforming fragmented citizen applications into a unified digital public service ecosystem.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31520" y="2176272"/>
            <a:ext cx="10728655" cy="18288"/>
          </a:xfrm>
          <a:prstGeom prst="rect">
            <a:avLst/>
          </a:prstGeom>
          <a:solidFill>
            <a:srgbClr val="1A3F22"/>
          </a:solidFill>
          <a:ln w="12700">
            <a:solidFill>
              <a:srgbClr val="1A3F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31520" y="2377440"/>
            <a:ext cx="5257800" cy="4069080"/>
          </a:xfrm>
          <a:prstGeom prst="roundRect">
            <a:avLst/>
          </a:prstGeom>
          <a:solidFill>
            <a:srgbClr val="211010"/>
          </a:solidFill>
          <a:ln w="19050">
            <a:solidFill>
              <a:srgbClr val="7F1D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05840" y="260604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CA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 The Fragmented Dilemma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05840" y="3154680"/>
            <a:ext cx="4709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EE2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  Citizens forced to download dozens of separate standalone government and financial applications.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3931920"/>
            <a:ext cx="4709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EE2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  Inconsistent authentication, variable security postures, and fragmented citizen profiles across services.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05840" y="4709160"/>
            <a:ext cx="4709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EE2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  Slow partner onboarding with high engineering costs, duplicated infrastructure, and tedious release reviews.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5486400"/>
            <a:ext cx="4709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EE2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  Heavy maintenance burden for government authorities with unstandardized mobile deployment pipelines.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199632" y="2377440"/>
            <a:ext cx="5257800" cy="4069080"/>
          </a:xfrm>
          <a:prstGeom prst="roundRect">
            <a:avLst/>
          </a:prstGeom>
          <a:solidFill>
            <a:srgbClr val="0B2111"/>
          </a:solidFill>
          <a:ln w="19050">
            <a:solidFill>
              <a:srgbClr val="905A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73952" y="260604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D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✨  The Unified Super App Solution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473952" y="3154680"/>
            <a:ext cx="4709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One App for All Services: High-performance Flutter container hosting dynamic on-demand Mini Apps.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73952" y="3931920"/>
            <a:ext cx="4709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Automated Security Gates: Strict network isolation, domain verification, and 8-stage SAST/DAST compliance.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73952" y="4709160"/>
            <a:ext cx="4709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Self-Service Backoffice: Instant registration wizard, live reachability checks, and version governance.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473952" y="5486400"/>
            <a:ext cx="4709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Zero Mobile Git Mutation: Codegen and Nexus artifact hosting ensure sovereign, clean continuous deployment.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rojects\fintect\superapp-poc\docs\assets\fs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11480"/>
            <a:ext cx="438912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61872" y="4389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D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FINTECH CENTER  •  </a:t>
            </a:r>
            <a:r>
              <a:rPr lang="en-US" sz="950" b="1" dirty="0">
                <a:solidFill>
                  <a:srgbClr val="D4E5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NON-BANK FINANCIAL SERVICES AUTHORITY (FSA)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31520" y="10515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D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3258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Flexible Integration Tiers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31520" y="18470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EBB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Supporting any partner technology stack with zero manual host application modification.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31520" y="2176272"/>
            <a:ext cx="10728655" cy="18288"/>
          </a:xfrm>
          <a:prstGeom prst="rect">
            <a:avLst/>
          </a:prstGeom>
          <a:solidFill>
            <a:srgbClr val="1A3F22"/>
          </a:solidFill>
          <a:ln w="12700">
            <a:solidFill>
              <a:srgbClr val="1A3F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31520" y="2377440"/>
            <a:ext cx="5285232" cy="1874520"/>
          </a:xfrm>
          <a:prstGeom prst="roundRect">
            <a:avLst/>
          </a:prstGeom>
          <a:solidFill>
            <a:srgbClr val="0B2111"/>
          </a:solidFill>
          <a:ln w="15240">
            <a:solidFill>
              <a:srgbClr val="396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60120" y="254203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4E5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WebView Mini Apps (H5 / Web)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297680" y="2542032"/>
            <a:ext cx="1508760" cy="292608"/>
          </a:xfrm>
          <a:prstGeom prst="roundRect">
            <a:avLst/>
          </a:prstGeom>
          <a:solidFill>
            <a:srgbClr val="143D1D"/>
          </a:solidFill>
          <a:ln w="12700">
            <a:solidFill>
              <a:srgbClr val="396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297680" y="254203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6EF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WEB DEPLOY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960120" y="3035808"/>
            <a:ext cx="4828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responsive web applications running in a sandboxed Web container with bidirectional SuperAppJSBridge and native hardware capability access (camera, location, storage).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172200" y="2377440"/>
            <a:ext cx="5285232" cy="1874520"/>
          </a:xfrm>
          <a:prstGeom prst="roundRect">
            <a:avLst/>
          </a:prstGeom>
          <a:solidFill>
            <a:srgbClr val="1C1609"/>
          </a:solidFill>
          <a:ln w="15240">
            <a:solidFill>
              <a:srgbClr val="905A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00800" y="254203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D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Flutter Package (Git / Nexus)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9738360" y="2542032"/>
            <a:ext cx="1508760" cy="292608"/>
          </a:xfrm>
          <a:prstGeom prst="roundRect">
            <a:avLst/>
          </a:prstGeom>
          <a:solidFill>
            <a:srgbClr val="3D2800"/>
          </a:solidFill>
          <a:ln w="12700">
            <a:solidFill>
              <a:srgbClr val="905A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738360" y="254203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DE0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PERFORMANCE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400800" y="3035808"/>
            <a:ext cx="4828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High-performance in-app micro-apps integrated via Git repository source OR hosted Dart Pub artifacts from Sonatype Nexus CE with offline caching and native 120 FPS transitions.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31520" y="4407408"/>
            <a:ext cx="5285232" cy="1874520"/>
          </a:xfrm>
          <a:prstGeom prst="roundRect">
            <a:avLst/>
          </a:prstGeom>
          <a:solidFill>
            <a:srgbClr val="1C1609"/>
          </a:solidFill>
          <a:ln w="15240">
            <a:solidFill>
              <a:srgbClr val="905A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960120" y="45720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D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SDK Frameworks (.aar / .xcframework)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4297680" y="4572000"/>
            <a:ext cx="1508760" cy="292608"/>
          </a:xfrm>
          <a:prstGeom prst="roundRect">
            <a:avLst/>
          </a:prstGeom>
          <a:solidFill>
            <a:srgbClr val="3D2800"/>
          </a:solidFill>
          <a:ln w="12700">
            <a:solidFill>
              <a:srgbClr val="905A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297680" y="457200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DE0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BINARY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960120" y="5065776"/>
            <a:ext cx="4828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Platform-specific binary modules integrated automatically via Native SDK Codegen and Universal Native Launcher without manual mobile codebase edits.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172200" y="4407408"/>
            <a:ext cx="5285232" cy="1874520"/>
          </a:xfrm>
          <a:prstGeom prst="roundRect">
            <a:avLst/>
          </a:prstGeom>
          <a:solidFill>
            <a:srgbClr val="0B2111"/>
          </a:solidFill>
          <a:ln w="15240">
            <a:solidFill>
              <a:srgbClr val="396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400800" y="45720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4E5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 Link &amp; App Links (OS Scheme)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9738360" y="4572000"/>
            <a:ext cx="1508760" cy="292608"/>
          </a:xfrm>
          <a:prstGeom prst="roundRect">
            <a:avLst/>
          </a:prstGeom>
          <a:solidFill>
            <a:srgbClr val="143D1D"/>
          </a:solidFill>
          <a:ln w="12700">
            <a:solidFill>
              <a:srgbClr val="396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9738360" y="457200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6EF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ECOSYSTEM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6400800" y="5065776"/>
            <a:ext cx="4828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Seamless OS-level URL scheme delegation (e.g. cambodia-tax://) to external standalone applications with automated App Store / Play Store fallback routing.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rojects\fintect\superapp-poc\docs\assets\fs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11480"/>
            <a:ext cx="438912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61872" y="4389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D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FINTECH CENTER  •  </a:t>
            </a:r>
            <a:r>
              <a:rPr lang="en-US" sz="950" b="1" dirty="0">
                <a:solidFill>
                  <a:srgbClr val="D4E5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NON-BANK FINANCIAL SERVICES AUTHORITY (FSA)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31520" y="10515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D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DEVELOPER EXPERIENCE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3258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Partner Self-Service &amp; Developer Portal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31520" y="18470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EBB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Backoffice Admin Portal with live URL reachability, capability proposals, and regulatory vetting.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31520" y="2176272"/>
            <a:ext cx="10728655" cy="18288"/>
          </a:xfrm>
          <a:prstGeom prst="rect">
            <a:avLst/>
          </a:prstGeom>
          <a:solidFill>
            <a:srgbClr val="1A3F22"/>
          </a:solidFill>
          <a:ln w="12700">
            <a:solidFill>
              <a:srgbClr val="1A3F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31520" y="23774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 6-Step Onboarding Wizard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31519" y="2743200"/>
            <a:ext cx="3647047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EBB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Guided step-by-step registration capturing app metadata, identity branding logos, technical integration endpoints, and ownership credentials.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31520" y="37490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D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 Live URL Reachability Probes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31520" y="4114800"/>
            <a:ext cx="36470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EBB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debounced HTTP &amp; TCP probes verifying production URLs, privacy policy endpoints, and store fallbacks during data entry.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31520" y="5120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4E5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 Flexible Policy Disclosures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31520" y="5486400"/>
            <a:ext cx="36470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EBB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Supports live HTTPS regulatory URLs or self-contained offline Markdown policy documents with built-in compliance templates.</a:t>
            </a:r>
            <a:endParaRPr lang="en-US" sz="1150" dirty="0"/>
          </a:p>
        </p:txBody>
      </p:sp>
      <p:pic>
        <p:nvPicPr>
          <p:cNvPr id="14" name="Image 1" descr="D:\Projects\fintect\superapp-poc\docs\assets\backoffice_wiz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8568" y="2377440"/>
            <a:ext cx="7081607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rojects\fintect\superapp-poc\docs\assets\fs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11480"/>
            <a:ext cx="438912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61872" y="4389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D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FINTECH CENTER  •  </a:t>
            </a:r>
            <a:r>
              <a:rPr lang="en-US" sz="950" b="1" dirty="0">
                <a:solidFill>
                  <a:srgbClr val="D4E5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NON-BANK FINANCIAL SERVICES AUTHORITY (FSA)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31520" y="10515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D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SECURITY • STRICT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3258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Automated Security Scanners &amp; Gates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31520" y="18470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EBB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Multi-layered validation pipeline executed automatically by Jenkins CI/CD on every package submission.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31520" y="2176272"/>
            <a:ext cx="10728655" cy="18288"/>
          </a:xfrm>
          <a:prstGeom prst="rect">
            <a:avLst/>
          </a:prstGeom>
          <a:solidFill>
            <a:srgbClr val="1A3F22"/>
          </a:solidFill>
          <a:ln w="12700">
            <a:solidFill>
              <a:srgbClr val="1A3F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31520" y="237744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E5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01. Cryptographic SHA-256 </a:t>
            </a:r>
            <a:r>
              <a:rPr lang="en-US" sz="10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[PASS ✓]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" y="288036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D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02. Gitleaks Secret  </a:t>
            </a:r>
            <a:r>
              <a:rPr lang="en-US" sz="10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[PASS ✓]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338328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E5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03. Semgrep &amp; AST Guard (SAST)</a:t>
            </a:r>
            <a:r>
              <a:rPr lang="en-US" sz="1000" dirty="0">
                <a:solidFill>
                  <a:srgbClr val="9EBB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[PASS ✓]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388620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D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04. Trivy &amp; OSV Database (SCA/CVE) </a:t>
            </a:r>
            <a:r>
              <a:rPr lang="en-US" sz="10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[PASS ✓]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438912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E5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05. Super App Gatekeeper </a:t>
            </a:r>
            <a:r>
              <a:rPr lang="en-US" sz="10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[PASS ✓]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31520" y="489204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D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06. Syft CycloneDX (SBOM) </a:t>
            </a:r>
            <a:r>
              <a:rPr lang="en-US" sz="10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[PASS ✓]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" y="539496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E5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07. License Compliance Scanner </a:t>
            </a:r>
            <a:r>
              <a:rPr lang="en-US" sz="10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[PASS ✓]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31520" y="589788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D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08. ClamAV &amp; YARA Malware Scan </a:t>
            </a:r>
            <a:r>
              <a:rPr lang="en-US" sz="10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[PASS ✓]</a:t>
            </a:r>
            <a:endParaRPr lang="en-US" sz="1100" dirty="0"/>
          </a:p>
        </p:txBody>
      </p:sp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8A840AA-18D0-A747-386A-AF56C6765C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3056" y="2344694"/>
            <a:ext cx="6911113" cy="37726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rojects\fintect\superapp-poc\docs\assets\fs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11480"/>
            <a:ext cx="438912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61872" y="4389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D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FINTECH CENTER  •  </a:t>
            </a:r>
            <a:r>
              <a:rPr lang="en-US" sz="950" b="1" dirty="0">
                <a:solidFill>
                  <a:srgbClr val="D4E5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NON-BANK FINANCIAL SERVICES AUTHORITY (FSA)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31520" y="10515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D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ASSEMBLY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3258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Scan Flow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31520" y="18470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EBB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Release-mode compilation with Jenkins, Sonatype Nexus Repository CE, and automated SDK codegen.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31520" y="2176272"/>
            <a:ext cx="10728655" cy="18288"/>
          </a:xfrm>
          <a:prstGeom prst="rect">
            <a:avLst/>
          </a:prstGeom>
          <a:solidFill>
            <a:srgbClr val="1A3F22"/>
          </a:solidFill>
          <a:ln w="12700">
            <a:solidFill>
              <a:srgbClr val="1A3F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799E9B5D-F043-B170-1571-84C1F3A5C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344" y="2679192"/>
            <a:ext cx="10265311" cy="19718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rojects\fintect\superapp-poc\docs\assets\fs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11480"/>
            <a:ext cx="438912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61872" y="4389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D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FINTECH CENTER  •  </a:t>
            </a:r>
            <a:r>
              <a:rPr lang="en-US" sz="950" b="1" dirty="0">
                <a:solidFill>
                  <a:srgbClr val="D4E5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NON-BANK FINANCIAL SERVICES AUTHORITY (FSA)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31520" y="10515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D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TESTING &amp; VERIFICATION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3258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Dual-Environment Testing &amp; QA Engine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31520" y="18470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EBB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in-browser Flutter Web simulation combined with physical Android device verification.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31520" y="2176272"/>
            <a:ext cx="10728655" cy="18288"/>
          </a:xfrm>
          <a:prstGeom prst="rect">
            <a:avLst/>
          </a:prstGeom>
          <a:solidFill>
            <a:srgbClr val="1A3F22"/>
          </a:solidFill>
          <a:ln w="12700">
            <a:solidFill>
              <a:srgbClr val="1A3F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D:\Projects\fintect\superapp-poc\docs\assets\superapp_sandbox_p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679192"/>
            <a:ext cx="6434088" cy="3767328"/>
          </a:xfrm>
          <a:prstGeom prst="rect">
            <a:avLst/>
          </a:prstGeom>
        </p:spPr>
      </p:pic>
      <p:pic>
        <p:nvPicPr>
          <p:cNvPr id="9" name="Image 2" descr="D:\Projects\fintect\superapp-poc\docs\assets\mobile_superapp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0880" y="2651758"/>
            <a:ext cx="1878498" cy="3767330"/>
          </a:xfrm>
          <a:prstGeom prst="rect">
            <a:avLst/>
          </a:prstGeom>
        </p:spPr>
      </p:pic>
      <p:sp>
        <p:nvSpPr>
          <p:cNvPr id="10" name="Text 2">
            <a:extLst>
              <a:ext uri="{FF2B5EF4-FFF2-40B4-BE49-F238E27FC236}">
                <a16:creationId xmlns:a16="http://schemas.microsoft.com/office/drawing/2014/main" id="{5BFE0DA5-2242-A885-EA11-433E60D5AD13}"/>
              </a:ext>
            </a:extLst>
          </p:cNvPr>
          <p:cNvSpPr/>
          <p:nvPr/>
        </p:nvSpPr>
        <p:spPr>
          <a:xfrm>
            <a:off x="731520" y="2179318"/>
            <a:ext cx="31136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Web:</a:t>
            </a:r>
            <a:endParaRPr lang="en-US" sz="1200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5B2EEF9E-CFBC-3E06-A939-36AAAC55838B}"/>
              </a:ext>
            </a:extLst>
          </p:cNvPr>
          <p:cNvSpPr/>
          <p:nvPr/>
        </p:nvSpPr>
        <p:spPr>
          <a:xfrm>
            <a:off x="8300880" y="2185415"/>
            <a:ext cx="24960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Mobile:</a:t>
            </a:r>
            <a:endParaRPr lang="en-US" sz="1200" dirty="0"/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1EB060F2-1E05-066D-F106-E59D0648BFE0}"/>
              </a:ext>
            </a:extLst>
          </p:cNvPr>
          <p:cNvSpPr/>
          <p:nvPr/>
        </p:nvSpPr>
        <p:spPr>
          <a:xfrm rot="5400000">
            <a:off x="6237344" y="4168521"/>
            <a:ext cx="3006090" cy="45719"/>
          </a:xfrm>
          <a:prstGeom prst="rect">
            <a:avLst/>
          </a:prstGeom>
          <a:solidFill>
            <a:srgbClr val="1A3F22"/>
          </a:solidFill>
          <a:ln w="12700">
            <a:solidFill>
              <a:srgbClr val="1A3F2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rojects\fintect\superapp-poc\docs\assets\fs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11480"/>
            <a:ext cx="438912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61872" y="4389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D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FINTECH CENTER  •  </a:t>
            </a:r>
            <a:r>
              <a:rPr lang="en-US" sz="950" b="1" dirty="0">
                <a:solidFill>
                  <a:srgbClr val="D4E5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NON-BANK FINANCIAL SERVICES AUTHORITY (FSA)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31520" y="10515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D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&amp; ACHIEVEMENTS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3258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Milestones &amp; Operational Status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31520" y="18470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EBB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Working prototype and governance infrastructure fully validated end-to-end.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31520" y="2176272"/>
            <a:ext cx="10728655" cy="18288"/>
          </a:xfrm>
          <a:prstGeom prst="rect">
            <a:avLst/>
          </a:prstGeom>
          <a:solidFill>
            <a:srgbClr val="1A3F22"/>
          </a:solidFill>
          <a:ln w="12700">
            <a:solidFill>
              <a:srgbClr val="1A3F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31520" y="23774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E5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Tiers Verified (90%)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2743200"/>
            <a:ext cx="359429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EBB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WebView Mini App, Flutter Package, Native SDK, and Deep Link validated end-to-end with live sample services.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37490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D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2-Stage Automated CI/CD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1519" y="4114800"/>
            <a:ext cx="359429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EBB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Jenkins compilation pipelines &amp; Sonatype Nexus CE repository operational with automated release packaging.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5120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E5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Infrastructure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31520" y="5486400"/>
            <a:ext cx="359429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EBB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Consolidated database schema, real-time Socket.IO notifications, and high-reliability Docker containers published.</a:t>
            </a:r>
            <a:endParaRPr lang="en-US" sz="1200" dirty="0"/>
          </a:p>
        </p:txBody>
      </p:sp>
      <p:pic>
        <p:nvPicPr>
          <p:cNvPr id="14" name="Image 1" descr="D:\Projects\fintect\superapp-poc\docs\assets\backoffice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7186" y="2377440"/>
            <a:ext cx="702299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7"/>
          <p:cNvSpPr/>
          <p:nvPr/>
        </p:nvSpPr>
        <p:spPr>
          <a:xfrm>
            <a:off x="4097782" y="5185158"/>
            <a:ext cx="3456432" cy="786384"/>
          </a:xfrm>
          <a:prstGeom prst="roundRect">
            <a:avLst/>
          </a:prstGeom>
          <a:solidFill>
            <a:srgbClr val="1C1609"/>
          </a:solidFill>
          <a:ln w="15240">
            <a:solidFill>
              <a:srgbClr val="905A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17">
            <a:extLst>
              <a:ext uri="{FF2B5EF4-FFF2-40B4-BE49-F238E27FC236}">
                <a16:creationId xmlns:a16="http://schemas.microsoft.com/office/drawing/2014/main" id="{34A9EAFB-BFA5-6D20-B375-5C854337EBBF}"/>
              </a:ext>
            </a:extLst>
          </p:cNvPr>
          <p:cNvSpPr/>
          <p:nvPr/>
        </p:nvSpPr>
        <p:spPr>
          <a:xfrm>
            <a:off x="4142232" y="2806700"/>
            <a:ext cx="3456432" cy="786384"/>
          </a:xfrm>
          <a:prstGeom prst="roundRect">
            <a:avLst/>
          </a:prstGeom>
          <a:solidFill>
            <a:srgbClr val="1C1609"/>
          </a:solidFill>
          <a:ln w="15240">
            <a:solidFill>
              <a:srgbClr val="905A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" name="Image 0" descr="D:\Projects\fintect\superapp-poc\docs\assets\fs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11480"/>
            <a:ext cx="438912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61872" y="4389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D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FINTECH CENTER  •  </a:t>
            </a:r>
            <a:r>
              <a:rPr lang="en-US" sz="950" b="1" dirty="0">
                <a:solidFill>
                  <a:srgbClr val="D4E5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NON-BANK FINANCIAL SERVICES AUTHORITY (FSA)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31520" y="10515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D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ROADMAP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3258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Integrations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31520" y="18470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EBB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Upcoming high-impact integrations and enterprise ecosystem expansion.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31520" y="2176272"/>
            <a:ext cx="10728655" cy="18288"/>
          </a:xfrm>
          <a:prstGeom prst="rect">
            <a:avLst/>
          </a:prstGeom>
          <a:solidFill>
            <a:srgbClr val="1A3F22"/>
          </a:solidFill>
          <a:ln w="12700">
            <a:solidFill>
              <a:srgbClr val="1A3F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326382" y="5372610"/>
            <a:ext cx="29992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8D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🆔  CamDigiKey Integration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4142232" y="4014217"/>
            <a:ext cx="3456432" cy="749808"/>
          </a:xfrm>
          <a:prstGeom prst="roundRect">
            <a:avLst/>
          </a:prstGeom>
          <a:solidFill>
            <a:srgbClr val="0B2111"/>
          </a:solidFill>
          <a:ln w="15240">
            <a:solidFill>
              <a:srgbClr val="396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497832" y="2980690"/>
            <a:ext cx="26649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D4E5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🏢  HR Mini App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4370832" y="4189223"/>
            <a:ext cx="29992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8D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 SA Capability Generator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">
    <p:bg>
      <p:bgPr>
        <a:solidFill>
          <a:srgbClr val="07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543951"/>
            <a:ext cx="10362895" cy="5394960"/>
          </a:xfrm>
          <a:prstGeom prst="roundRect">
            <a:avLst/>
          </a:prstGeom>
          <a:solidFill>
            <a:srgbClr val="0A1C0E"/>
          </a:solidFill>
          <a:ln w="19050">
            <a:solidFill>
              <a:srgbClr val="2951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D:\Projects\fintect\superapp-poc\docs\assets\fsa_logo.png"/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4150530" y="1069144"/>
            <a:ext cx="4020453" cy="402045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142" y="2852811"/>
            <a:ext cx="94484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1371600" y="5257800"/>
            <a:ext cx="94484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E5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Non-Bank Financial Services Authority (FSA)  •  Core Engineering Team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0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1C24EF-83C6-CA69-9B1A-3CED07319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2C4D518-13EE-6429-61AB-4E45402EC042}"/>
              </a:ext>
            </a:extLst>
          </p:cNvPr>
          <p:cNvSpPr/>
          <p:nvPr/>
        </p:nvSpPr>
        <p:spPr>
          <a:xfrm>
            <a:off x="914400" y="731520"/>
            <a:ext cx="10362895" cy="5394960"/>
          </a:xfrm>
          <a:prstGeom prst="roundRect">
            <a:avLst/>
          </a:prstGeom>
          <a:solidFill>
            <a:srgbClr val="0A1C0E"/>
          </a:solidFill>
          <a:ln w="19050">
            <a:solidFill>
              <a:srgbClr val="2951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D:\Projects\fintect\superapp-poc\docs\assets\fsa_logo.png">
            <a:extLst>
              <a:ext uri="{FF2B5EF4-FFF2-40B4-BE49-F238E27FC236}">
                <a16:creationId xmlns:a16="http://schemas.microsoft.com/office/drawing/2014/main" id="{8A41F380-A9D6-789F-6B04-6C93ECE05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3870" y="1280160"/>
            <a:ext cx="1463040" cy="1463040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64E785C4-2EB8-7962-DCFE-DD1EA568B6A2}"/>
              </a:ext>
            </a:extLst>
          </p:cNvPr>
          <p:cNvSpPr/>
          <p:nvPr/>
        </p:nvSpPr>
        <p:spPr>
          <a:xfrm>
            <a:off x="4449470" y="2926080"/>
            <a:ext cx="3291840" cy="384048"/>
          </a:xfrm>
          <a:prstGeom prst="roundRect">
            <a:avLst/>
          </a:prstGeom>
          <a:solidFill>
            <a:srgbClr val="3D2800"/>
          </a:solidFill>
          <a:ln w="12700">
            <a:solidFill>
              <a:srgbClr val="905A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B6E4E12-E949-1D4C-AB55-9214248B6BB5}"/>
              </a:ext>
            </a:extLst>
          </p:cNvPr>
          <p:cNvSpPr/>
          <p:nvPr/>
        </p:nvSpPr>
        <p:spPr>
          <a:xfrm>
            <a:off x="4449470" y="29260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D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🤝  Q&amp;A  /  THANK YOU</a:t>
            </a:r>
            <a:endParaRPr lang="en-US" sz="12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A736D6B-3958-1377-A18E-5008FC0B84C6}"/>
              </a:ext>
            </a:extLst>
          </p:cNvPr>
          <p:cNvSpPr/>
          <p:nvPr/>
        </p:nvSpPr>
        <p:spPr>
          <a:xfrm>
            <a:off x="1371600" y="3474720"/>
            <a:ext cx="94484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5069436-9455-C9A6-2A0A-00E46A4FEDA5}"/>
              </a:ext>
            </a:extLst>
          </p:cNvPr>
          <p:cNvSpPr/>
          <p:nvPr/>
        </p:nvSpPr>
        <p:spPr>
          <a:xfrm>
            <a:off x="1828800" y="4297680"/>
            <a:ext cx="85340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D1DC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Empowering national-scale digital public services and partner ecosystems through a unified, secure Super App platform.</a:t>
            </a:r>
            <a:endParaRPr lang="en-US" sz="14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95DDE2B-764E-19B8-83D2-883EA217A903}"/>
              </a:ext>
            </a:extLst>
          </p:cNvPr>
          <p:cNvSpPr/>
          <p:nvPr/>
        </p:nvSpPr>
        <p:spPr>
          <a:xfrm>
            <a:off x="1371600" y="5257800"/>
            <a:ext cx="94484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E5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Non-Bank Financial Services Authority (FSA)  •  Core Engineering Team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417958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975</Words>
  <Application>Microsoft Office PowerPoint</Application>
  <PresentationFormat>Widescreen</PresentationFormat>
  <Paragraphs>121</Paragraphs>
  <Slides>12</Slides>
  <Notes>12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Non-Bank Financial Services Authority (FSA)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 App &amp; Mini App Integration Platform</dc:title>
  <dc:subject>Executive &amp; Technical Architecture Presentation</dc:subject>
  <dc:creator>FSA Core Engineering Team</dc:creator>
  <cp:lastModifiedBy>molikakhorn71@gmail.com</cp:lastModifiedBy>
  <cp:revision>5</cp:revision>
  <dcterms:created xsi:type="dcterms:W3CDTF">2026-10-02T10:54:39Z</dcterms:created>
  <dcterms:modified xsi:type="dcterms:W3CDTF">2026-10-05T02:17:28Z</dcterms:modified>
</cp:coreProperties>
</file>